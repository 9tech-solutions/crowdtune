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Google Sans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italic.fntdata"/><Relationship Id="rId14" Type="http://schemas.openxmlformats.org/officeDocument/2006/relationships/font" Target="fonts/GoogleSans-bold.fntdata"/><Relationship Id="rId16" Type="http://schemas.openxmlformats.org/officeDocument/2006/relationships/font" Target="fonts/Google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cc9cbba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cc9cbba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5cc9cbb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5cc9cbb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5cc9cbb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5cc9cbb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5cc9cbb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5cc9cbb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cc9cbb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cc9cbb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5cc9cbb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5cc9cbb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913450" y="158300"/>
            <a:ext cx="3317100" cy="5913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844575"/>
            <a:ext cx="9144000" cy="427200"/>
          </a:xfrm>
          <a:prstGeom prst="rect">
            <a:avLst/>
          </a:prstGeom>
          <a:solidFill>
            <a:srgbClr val="404040">
              <a:alpha val="50000"/>
            </a:srgbClr>
          </a:solidFill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The World’s First Social Jukebox Super App for Dining.</a:t>
            </a:r>
            <a:endParaRPr sz="1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46575" y="48309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480850" y="48309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7075" y="48309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4328450" y="356175"/>
            <a:ext cx="3766500" cy="5913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D9D9D9"/>
                </a:solidFill>
                <a:latin typeface="Google Sans"/>
                <a:ea typeface="Google Sans"/>
                <a:cs typeface="Google Sans"/>
                <a:sym typeface="Google Sans"/>
              </a:rPr>
              <a:t>Silent is Boring</a:t>
            </a:r>
            <a:endParaRPr b="1" sz="3200">
              <a:solidFill>
                <a:srgbClr val="D9D9D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328450" y="1012975"/>
            <a:ext cx="3766500" cy="5913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Traditional dining lacks interaction.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Customers are isolated, and the atmosphere is static.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434275" y="197925"/>
            <a:ext cx="5373000" cy="10920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One App.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Total Control.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98650" y="3622363"/>
            <a:ext cx="3766500" cy="5913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Seamlessly integrating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food ordering,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payments, and entertainment.</a:t>
            </a:r>
            <a:endParaRPr sz="11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-17550" y="2328300"/>
            <a:ext cx="9179100" cy="1256400"/>
          </a:xfrm>
          <a:prstGeom prst="rect">
            <a:avLst/>
          </a:prstGeom>
          <a:gradFill>
            <a:gsLst>
              <a:gs pos="0">
                <a:srgbClr val="404040">
                  <a:alpha val="50196"/>
                </a:srgbClr>
              </a:gs>
              <a:gs pos="30000">
                <a:srgbClr val="404040">
                  <a:alpha val="50196"/>
                </a:srgbClr>
              </a:gs>
              <a:gs pos="67000">
                <a:srgbClr val="404040">
                  <a:alpha val="0"/>
                </a:srgbClr>
              </a:gs>
              <a:gs pos="100000">
                <a:srgbClr val="40404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Meet the "Social Jukebox"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Turn passive listeners into active DJs.</a:t>
            </a:r>
            <a:endParaRPr sz="1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1885500" y="237475"/>
            <a:ext cx="5373000" cy="10920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Monetize the Melody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Micro-transactions for every track played.</a:t>
            </a:r>
            <a:endParaRPr sz="17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-401375" y="3586550"/>
            <a:ext cx="5373000" cy="10920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10 THB / Track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702050" y="3586550"/>
            <a:ext cx="4095600" cy="1092000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20 THB / Track</a:t>
            </a:r>
            <a:endParaRPr b="1" sz="32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50375" y="1186950"/>
            <a:ext cx="3469200" cy="1365000"/>
          </a:xfrm>
          <a:prstGeom prst="rect">
            <a:avLst/>
          </a:prstGeom>
          <a:noFill/>
          <a:ln>
            <a:noFill/>
          </a:ln>
          <a:effectLst>
            <a:outerShdw blurRad="732267" rotWithShape="0" algn="bl" dir="5400000" dist="11907">
              <a:schemeClr val="dk1"/>
            </a:outerShdw>
          </a:effectLst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Smart Tech,</a:t>
            </a:r>
            <a:endParaRPr b="1" sz="40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Zero Friction.</a:t>
            </a:r>
            <a:endParaRPr sz="2125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436629" y="2690393"/>
            <a:ext cx="3066600" cy="126600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>
              <a:srgbClr val="000000">
                <a:alpha val="80000"/>
              </a:srgbClr>
            </a:outerShdw>
          </a:effectLst>
        </p:spPr>
        <p:txBody>
          <a:bodyPr anchorCtr="0" anchor="t" bIns="114275" lIns="114275" spcFirstLastPara="1" rIns="114275" wrap="square" tIns="11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Compatible with 99% of existing sound systems via Bluetooth or our Plug-and-Play Dongle.</a:t>
            </a:r>
            <a:endParaRPr sz="1375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/>
        </p:nvSpPr>
        <p:spPr>
          <a:xfrm>
            <a:off x="2941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CrowdTune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328450" y="4678550"/>
            <a:ext cx="43047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Confidential &amp; Proprietary Material of Tech Care Academy. Do Not Distribute.</a:t>
            </a:r>
            <a:endParaRPr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1384675" y="4678550"/>
            <a:ext cx="10905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Sirasit Sachdev</a:t>
            </a:r>
            <a:endParaRPr b="1" sz="900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502775" y="237375"/>
            <a:ext cx="4777200" cy="1365000"/>
          </a:xfrm>
          <a:prstGeom prst="rect">
            <a:avLst/>
          </a:prstGeom>
          <a:noFill/>
          <a:ln>
            <a:noFill/>
          </a:ln>
          <a:effectLst>
            <a:outerShdw blurRad="185738" rotWithShape="0" algn="bl" dir="5400000" dist="11907">
              <a:schemeClr val="dk1"/>
            </a:outerShdw>
          </a:effectLst>
        </p:spPr>
        <p:txBody>
          <a:bodyPr anchorCtr="0" anchor="ctr" bIns="114275" lIns="114275" spcFirstLastPara="1" rIns="114275" wrap="square" tIns="11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Revive the Dining Experience.</a:t>
            </a:r>
            <a:endParaRPr sz="2125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125" y="1566725"/>
            <a:ext cx="9144000" cy="474900"/>
          </a:xfrm>
          <a:prstGeom prst="rect">
            <a:avLst/>
          </a:prstGeom>
          <a:solidFill>
            <a:srgbClr val="404040">
              <a:alpha val="50000"/>
            </a:srgbClr>
          </a:solidFill>
          <a:ln>
            <a:noFill/>
          </a:ln>
          <a:effectLst>
            <a:outerShdw blurRad="185738" rotWithShape="0" algn="bl">
              <a:schemeClr val="dk1">
                <a:alpha val="80000"/>
              </a:schemeClr>
            </a:outerShdw>
          </a:effectLst>
        </p:spPr>
        <p:txBody>
          <a:bodyPr anchorCtr="0" anchor="t" bIns="114275" lIns="114275" spcFirstLastPara="1" rIns="114275" wrap="square" tIns="11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5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678225" y="3099375"/>
            <a:ext cx="3078300" cy="4116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Investment Opportunity Open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71283">
            <a:off x="3436627" y="3193277"/>
            <a:ext cx="726688" cy="726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9"/>
          <p:cNvSpPr txBox="1"/>
          <p:nvPr/>
        </p:nvSpPr>
        <p:spPr>
          <a:xfrm>
            <a:off x="589025" y="1566725"/>
            <a:ext cx="5377500" cy="561900"/>
          </a:xfrm>
          <a:prstGeom prst="rect">
            <a:avLst/>
          </a:prstGeom>
          <a:noFill/>
          <a:ln>
            <a:noFill/>
          </a:ln>
          <a:effectLst>
            <a:outerShdw blurRad="185738" rotWithShape="0" algn="bl">
              <a:schemeClr val="dk1">
                <a:alpha val="80000"/>
              </a:schemeClr>
            </a:outerShdw>
          </a:effectLst>
        </p:spPr>
        <p:txBody>
          <a:bodyPr anchorCtr="0" anchor="t" bIns="114275" lIns="114275" spcFirstLastPara="1" rIns="114275" wrap="square" tIns="11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Join us in building the future of interactive social dining.</a:t>
            </a:r>
            <a:endParaRPr sz="1375">
              <a:solidFill>
                <a:srgbClr val="FFFFFF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